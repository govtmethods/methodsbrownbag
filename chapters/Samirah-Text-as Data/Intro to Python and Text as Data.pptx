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2" d="100"/>
          <a:sy n="92" d="100"/>
        </p:scale>
        <p:origin x="1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47AD-1282-46C2-A59C-7CC40A2C9C6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ACAE0-BBC4-4D23-8389-BD53F26B76A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84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47AD-1282-46C2-A59C-7CC40A2C9C6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ACAE0-BBC4-4D23-8389-BD53F26B7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43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47AD-1282-46C2-A59C-7CC40A2C9C6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ACAE0-BBC4-4D23-8389-BD53F26B76A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53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47AD-1282-46C2-A59C-7CC40A2C9C6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ACAE0-BBC4-4D23-8389-BD53F26B7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739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47AD-1282-46C2-A59C-7CC40A2C9C6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ACAE0-BBC4-4D23-8389-BD53F26B7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883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47AD-1282-46C2-A59C-7CC40A2C9C6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ACAE0-BBC4-4D23-8389-BD53F26B7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70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47AD-1282-46C2-A59C-7CC40A2C9C6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ACAE0-BBC4-4D23-8389-BD53F26B7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81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78647AD-1282-46C2-A59C-7CC40A2C9C6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F7ACAE0-BBC4-4D23-8389-BD53F26B7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74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47AD-1282-46C2-A59C-7CC40A2C9C6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ACAE0-BBC4-4D23-8389-BD53F26B7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456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47AD-1282-46C2-A59C-7CC40A2C9C6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ACAE0-BBC4-4D23-8389-BD53F26B7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128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47AD-1282-46C2-A59C-7CC40A2C9C6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ACAE0-BBC4-4D23-8389-BD53F26B7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941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78647AD-1282-46C2-A59C-7CC40A2C9C6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F7ACAE0-BBC4-4D23-8389-BD53F26B76A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032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8744B-50BD-72D8-18A6-4E31804FD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10" y="1449588"/>
            <a:ext cx="3401961" cy="278990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Introduction to Python &amp; </a:t>
            </a:r>
            <a:br>
              <a:rPr lang="en-US" sz="3600" dirty="0">
                <a:latin typeface="+mn-lt"/>
              </a:rPr>
            </a:br>
            <a:r>
              <a:rPr lang="en-US" sz="3600" dirty="0">
                <a:latin typeface="+mn-lt"/>
              </a:rPr>
              <a:t>Text-as-Data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55692F-4B00-380B-9B87-E2358D15E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41110" y="4455621"/>
            <a:ext cx="3417990" cy="1238616"/>
          </a:xfrm>
        </p:spPr>
        <p:txBody>
          <a:bodyPr>
            <a:normAutofit fontScale="92500" lnSpcReduction="20000"/>
          </a:bodyPr>
          <a:lstStyle/>
          <a:p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Department of Government: </a:t>
            </a:r>
            <a:b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</a:b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Methods Brown Bag </a:t>
            </a:r>
            <a:b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</a:b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(Fall 2025)</a:t>
            </a:r>
          </a:p>
          <a:p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Samirah Jaigirdar</a:t>
            </a:r>
          </a:p>
        </p:txBody>
      </p:sp>
      <p:pic>
        <p:nvPicPr>
          <p:cNvPr id="5" name="Picture 4" descr="A group of people walking down a street&#10;&#10;AI-generated content may be incorrect.">
            <a:extLst>
              <a:ext uri="{FF2B5EF4-FFF2-40B4-BE49-F238E27FC236}">
                <a16:creationId xmlns:a16="http://schemas.microsoft.com/office/drawing/2014/main" id="{4D4A0309-1AF5-0AE1-B3AE-AB0AECC4A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773804"/>
            <a:ext cx="6912217" cy="478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72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36906-C8A6-6661-80E4-E4A2BD315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733429"/>
            <a:ext cx="5157787" cy="823912"/>
          </a:xfrm>
        </p:spPr>
        <p:txBody>
          <a:bodyPr>
            <a:normAutofit/>
          </a:bodyPr>
          <a:lstStyle/>
          <a:p>
            <a:r>
              <a:rPr lang="en-US" sz="2000" dirty="0"/>
              <a:t>Why Python for Text Data Analysis?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55E781-56BD-F4DE-A0AA-E860C441C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1762554"/>
            <a:ext cx="5157787" cy="385447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Python is a general-purpose, object-oriented programming language that emphasizes code readability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Well suited for deploying machine learning at a large scale</a:t>
            </a:r>
          </a:p>
          <a:p>
            <a:r>
              <a:rPr lang="en-US" sz="1800" dirty="0"/>
              <a:t>Many Python libraries can be used for data science purposes: </a:t>
            </a:r>
          </a:p>
          <a:p>
            <a:pPr lvl="1"/>
            <a:r>
              <a:rPr lang="en-US" sz="1800" dirty="0" err="1"/>
              <a:t>Numpy</a:t>
            </a:r>
            <a:r>
              <a:rPr lang="en-US" sz="1800" dirty="0"/>
              <a:t> – Large Dimensional Arrays</a:t>
            </a:r>
          </a:p>
          <a:p>
            <a:pPr lvl="1"/>
            <a:r>
              <a:rPr lang="en-US" sz="1800" dirty="0"/>
              <a:t>Pandas – Data Manipulation &amp; Analysis (us!!) </a:t>
            </a:r>
          </a:p>
          <a:p>
            <a:pPr lvl="1"/>
            <a:r>
              <a:rPr lang="en-US" sz="1800" dirty="0"/>
              <a:t>Matplotlib – Data Visualizations (kind of ugly; use </a:t>
            </a:r>
            <a:r>
              <a:rPr lang="en-US" sz="1800" dirty="0" err="1"/>
              <a:t>ggplot</a:t>
            </a:r>
            <a:r>
              <a:rPr lang="en-US" sz="1800" dirty="0"/>
              <a:t>) </a:t>
            </a:r>
          </a:p>
          <a:p>
            <a:pPr lvl="1"/>
            <a:endParaRPr lang="en-US" sz="1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953E07-6763-3B2E-3AB4-52135E073C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733429"/>
            <a:ext cx="5183188" cy="823912"/>
          </a:xfrm>
        </p:spPr>
        <p:txBody>
          <a:bodyPr>
            <a:normAutofit/>
          </a:bodyPr>
          <a:lstStyle/>
          <a:p>
            <a:r>
              <a:rPr lang="en-US" sz="2000" dirty="0"/>
              <a:t>What is </a:t>
            </a:r>
            <a:r>
              <a:rPr lang="en-US" sz="2000" dirty="0" err="1"/>
              <a:t>Colab</a:t>
            </a:r>
            <a:r>
              <a:rPr lang="en-US" sz="2000" dirty="0"/>
              <a:t>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F85F6B-07A1-683F-18FE-B139A14C94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1762554"/>
            <a:ext cx="5183188" cy="368458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Browser Notebook + free GPU/CPU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Allows you to run Python code in a </a:t>
            </a:r>
            <a:r>
              <a:rPr lang="en-US" sz="1800" dirty="0" err="1"/>
              <a:t>Jupyter</a:t>
            </a:r>
            <a:r>
              <a:rPr lang="en-US" sz="1800" dirty="0"/>
              <a:t> notebook environment without any setup on your device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You can combine executable code with text, images, and LaTeX in a single document (but don’t ask me how)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Can share the </a:t>
            </a:r>
            <a:r>
              <a:rPr lang="en-US" sz="1800" dirty="0" err="1"/>
              <a:t>Colab</a:t>
            </a:r>
            <a:r>
              <a:rPr lang="en-US" sz="1800" dirty="0"/>
              <a:t> Doc with anyone and thus, can edit and code together!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Best Part: Has Google AI built in to it (if you opt in) and it will fix your code for you </a:t>
            </a:r>
            <a:r>
              <a:rPr lang="en-US" sz="1800" dirty="0">
                <a:sym typeface="Wingdings" panose="05000000000000000000" pitchFamily="2" charset="2"/>
              </a:rPr>
              <a:t>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08371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uiExpand="1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6D8B597-9E3F-4FBD-4EAF-3AD12A935EE9}"/>
              </a:ext>
            </a:extLst>
          </p:cNvPr>
          <p:cNvSpPr txBox="1">
            <a:spLocks/>
          </p:cNvSpPr>
          <p:nvPr/>
        </p:nvSpPr>
        <p:spPr>
          <a:xfrm>
            <a:off x="1029843" y="1317059"/>
            <a:ext cx="3568795" cy="2650122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en-US" sz="1600" b="1" dirty="0"/>
              <a:t>Blocks By Indentation 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z="1600" dirty="0"/>
              <a:t>x = 7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US" sz="1600" dirty="0"/>
          </a:p>
          <a:p>
            <a:pPr marL="0" indent="0">
              <a:buFont typeface="Calibri" panose="020F0502020204030204" pitchFamily="34" charset="0"/>
              <a:buNone/>
            </a:pPr>
            <a:r>
              <a:rPr lang="en-US" sz="1600" dirty="0"/>
              <a:t>if x &gt; 5:            # colon starts a block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z="1600" dirty="0"/>
              <a:t>    print("big")     # 4 spaces indent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z="1600" dirty="0"/>
              <a:t>else: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lang="en-US" sz="1600" dirty="0"/>
              <a:t>    print("small")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CEF02-2662-469A-6CDF-1BE925DE641B}"/>
              </a:ext>
            </a:extLst>
          </p:cNvPr>
          <p:cNvSpPr txBox="1">
            <a:spLocks/>
          </p:cNvSpPr>
          <p:nvPr/>
        </p:nvSpPr>
        <p:spPr>
          <a:xfrm>
            <a:off x="6096000" y="2231460"/>
            <a:ext cx="5481817" cy="2650121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0-based indexing + slicing (stop is exclusive)</a:t>
            </a:r>
          </a:p>
          <a:p>
            <a:pPr marL="0" indent="0">
              <a:buNone/>
            </a:pPr>
            <a:r>
              <a:rPr lang="en-US" sz="1600" dirty="0" err="1"/>
              <a:t>nums</a:t>
            </a:r>
            <a:r>
              <a:rPr lang="en-US" sz="1600" dirty="0"/>
              <a:t> = [10, 20, 30, 40, 50]</a:t>
            </a:r>
          </a:p>
          <a:p>
            <a:pPr marL="0" indent="0">
              <a:buNone/>
            </a:pPr>
            <a:r>
              <a:rPr lang="en-US" sz="1600" dirty="0"/>
              <a:t>first   = </a:t>
            </a:r>
            <a:r>
              <a:rPr lang="en-US" sz="1600" dirty="0" err="1"/>
              <a:t>nums</a:t>
            </a:r>
            <a:r>
              <a:rPr lang="en-US" sz="1600" dirty="0"/>
              <a:t>[0]        # 10</a:t>
            </a:r>
          </a:p>
          <a:p>
            <a:pPr marL="0" indent="0">
              <a:buNone/>
            </a:pPr>
            <a:r>
              <a:rPr lang="en-US" sz="1600" dirty="0"/>
              <a:t>last    = </a:t>
            </a:r>
            <a:r>
              <a:rPr lang="en-US" sz="1600" dirty="0" err="1"/>
              <a:t>nums</a:t>
            </a:r>
            <a:r>
              <a:rPr lang="en-US" sz="1600" dirty="0"/>
              <a:t>[-1]       # 50</a:t>
            </a:r>
          </a:p>
          <a:p>
            <a:pPr marL="0" indent="0">
              <a:buNone/>
            </a:pPr>
            <a:r>
              <a:rPr lang="en-US" sz="1600" dirty="0"/>
              <a:t>sub     = </a:t>
            </a:r>
            <a:r>
              <a:rPr lang="en-US" sz="1600" dirty="0" err="1"/>
              <a:t>nums</a:t>
            </a:r>
            <a:r>
              <a:rPr lang="en-US" sz="1600" dirty="0"/>
              <a:t>[1:4]      # [20, 30, 40]  (stops before index 4)</a:t>
            </a:r>
          </a:p>
          <a:p>
            <a:pPr marL="0" indent="0">
              <a:buNone/>
            </a:pPr>
            <a:r>
              <a:rPr lang="en-US" sz="1600" dirty="0"/>
              <a:t>every2  = </a:t>
            </a:r>
            <a:r>
              <a:rPr lang="en-US" sz="1600" dirty="0" err="1"/>
              <a:t>nums</a:t>
            </a:r>
            <a:r>
              <a:rPr lang="en-US" sz="1600" dirty="0"/>
              <a:t>[::2]      # [10, 30, 50]</a:t>
            </a:r>
          </a:p>
          <a:p>
            <a:pPr marL="0" indent="0">
              <a:buNone/>
            </a:pPr>
            <a:r>
              <a:rPr lang="en-US" sz="1600" dirty="0" err="1"/>
              <a:t>reversed_nums</a:t>
            </a:r>
            <a:r>
              <a:rPr lang="en-US" sz="1600" dirty="0"/>
              <a:t> = </a:t>
            </a:r>
            <a:r>
              <a:rPr lang="en-US" sz="1600" dirty="0" err="1"/>
              <a:t>nums</a:t>
            </a:r>
            <a:r>
              <a:rPr lang="en-US" sz="1600" dirty="0"/>
              <a:t>[::-1]  # [50, 40, 30, 20, 10]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91BBC3D-6967-073B-923C-6730711B108F}"/>
              </a:ext>
            </a:extLst>
          </p:cNvPr>
          <p:cNvSpPr txBox="1">
            <a:spLocks/>
          </p:cNvSpPr>
          <p:nvPr/>
        </p:nvSpPr>
        <p:spPr>
          <a:xfrm>
            <a:off x="1029844" y="4445048"/>
            <a:ext cx="3568795" cy="1601919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/>
              <a:t>Assignment (=) vs Equality (==)</a:t>
            </a:r>
          </a:p>
          <a:p>
            <a:pPr marL="0" indent="0">
              <a:buNone/>
            </a:pPr>
            <a:r>
              <a:rPr lang="en-US" sz="1600" dirty="0"/>
              <a:t>a = 3        # assign</a:t>
            </a:r>
          </a:p>
          <a:p>
            <a:pPr marL="0" indent="0">
              <a:buNone/>
            </a:pPr>
            <a:r>
              <a:rPr lang="en-US" sz="1600" dirty="0"/>
              <a:t>b = 3</a:t>
            </a:r>
          </a:p>
          <a:p>
            <a:pPr marL="0" indent="0">
              <a:buNone/>
            </a:pPr>
            <a:r>
              <a:rPr lang="en-US" sz="1600" dirty="0"/>
              <a:t>a == b       # True (equality check)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6EE0BB0-FE7A-A51A-D7DA-BF66453BA167}"/>
              </a:ext>
            </a:extLst>
          </p:cNvPr>
          <p:cNvSpPr txBox="1">
            <a:spLocks/>
          </p:cNvSpPr>
          <p:nvPr/>
        </p:nvSpPr>
        <p:spPr>
          <a:xfrm>
            <a:off x="3527831" y="671531"/>
            <a:ext cx="5136338" cy="64552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Syntax Differences between Python &amp; R</a:t>
            </a:r>
          </a:p>
        </p:txBody>
      </p:sp>
    </p:spTree>
    <p:extLst>
      <p:ext uri="{BB962C8B-B14F-4D97-AF65-F5344CB8AC3E}">
        <p14:creationId xmlns:p14="http://schemas.microsoft.com/office/powerpoint/2010/main" val="3131400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allAtOnce" animBg="1"/>
      <p:bldP spid="3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2BE94F-AD57-31F5-91E0-1CB95FCF7CCB}"/>
              </a:ext>
            </a:extLst>
          </p:cNvPr>
          <p:cNvSpPr txBox="1"/>
          <p:nvPr/>
        </p:nvSpPr>
        <p:spPr>
          <a:xfrm>
            <a:off x="618767" y="474388"/>
            <a:ext cx="4826382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Filter:</a:t>
            </a:r>
          </a:p>
          <a:p>
            <a:r>
              <a:rPr lang="en-US" dirty="0"/>
              <a:t>R:</a:t>
            </a:r>
            <a:br>
              <a:rPr lang="en-US" dirty="0"/>
            </a:br>
            <a:r>
              <a:rPr lang="en-US" dirty="0" err="1"/>
              <a:t>df</a:t>
            </a:r>
            <a:r>
              <a:rPr lang="en-US" dirty="0"/>
              <a:t> %&gt;% filter(year &gt; 2010, country == "India")</a:t>
            </a:r>
          </a:p>
          <a:p>
            <a:endParaRPr lang="en-US" dirty="0"/>
          </a:p>
          <a:p>
            <a:r>
              <a:rPr lang="en-US" dirty="0"/>
              <a:t>Python: </a:t>
            </a:r>
          </a:p>
          <a:p>
            <a:r>
              <a:rPr lang="en-US" dirty="0" err="1"/>
              <a:t>df.query</a:t>
            </a:r>
            <a:r>
              <a:rPr lang="en-US" dirty="0"/>
              <a:t>("year &gt; 2010 and country == 'India'")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4E42C9-6052-C63D-365E-14B7D0E5975A}"/>
              </a:ext>
            </a:extLst>
          </p:cNvPr>
          <p:cNvSpPr txBox="1"/>
          <p:nvPr/>
        </p:nvSpPr>
        <p:spPr>
          <a:xfrm>
            <a:off x="6096000" y="474388"/>
            <a:ext cx="4826382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Select Columns: </a:t>
            </a:r>
          </a:p>
          <a:p>
            <a:r>
              <a:rPr lang="en-US" dirty="0"/>
              <a:t>R:</a:t>
            </a:r>
            <a:br>
              <a:rPr lang="en-US" dirty="0"/>
            </a:br>
            <a:r>
              <a:rPr lang="en-US" dirty="0" err="1"/>
              <a:t>df</a:t>
            </a:r>
            <a:r>
              <a:rPr lang="en-US" dirty="0"/>
              <a:t> %&gt;% select(country, year, </a:t>
            </a:r>
            <a:r>
              <a:rPr lang="en-US" dirty="0" err="1"/>
              <a:t>gdp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Python: </a:t>
            </a:r>
          </a:p>
          <a:p>
            <a:r>
              <a:rPr lang="en-US" dirty="0" err="1"/>
              <a:t>df</a:t>
            </a:r>
            <a:r>
              <a:rPr lang="en-US" dirty="0"/>
              <a:t>[["country", "year", "</a:t>
            </a:r>
            <a:r>
              <a:rPr lang="en-US" dirty="0" err="1"/>
              <a:t>gdp</a:t>
            </a:r>
            <a:r>
              <a:rPr lang="en-US" dirty="0"/>
              <a:t>"]]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7DF556-E152-E2F3-E3BE-41BD445CBFC8}"/>
              </a:ext>
            </a:extLst>
          </p:cNvPr>
          <p:cNvSpPr txBox="1"/>
          <p:nvPr/>
        </p:nvSpPr>
        <p:spPr>
          <a:xfrm>
            <a:off x="618767" y="3026228"/>
            <a:ext cx="4826382" cy="203132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Mutate:</a:t>
            </a:r>
          </a:p>
          <a:p>
            <a:r>
              <a:rPr lang="en-US" dirty="0"/>
              <a:t>R:</a:t>
            </a:r>
            <a:br>
              <a:rPr lang="en-US" dirty="0"/>
            </a:br>
            <a:r>
              <a:rPr lang="en-US" dirty="0" err="1"/>
              <a:t>df</a:t>
            </a:r>
            <a:r>
              <a:rPr lang="en-US" dirty="0"/>
              <a:t> %&gt;% mutate(</a:t>
            </a:r>
            <a:r>
              <a:rPr lang="en-US" dirty="0" err="1"/>
              <a:t>gdp_pc</a:t>
            </a:r>
            <a:r>
              <a:rPr lang="en-US" dirty="0"/>
              <a:t> = </a:t>
            </a:r>
            <a:r>
              <a:rPr lang="en-US" dirty="0" err="1"/>
              <a:t>gdp</a:t>
            </a:r>
            <a:r>
              <a:rPr lang="en-US" dirty="0"/>
              <a:t> / pop,</a:t>
            </a:r>
          </a:p>
          <a:p>
            <a:r>
              <a:rPr lang="en-US" dirty="0"/>
              <a:t>              decade = floor(year / 10) * 10)</a:t>
            </a:r>
          </a:p>
          <a:p>
            <a:r>
              <a:rPr lang="en-US" dirty="0"/>
              <a:t>Python: (pandas)</a:t>
            </a:r>
          </a:p>
          <a:p>
            <a:r>
              <a:rPr lang="en-US" dirty="0" err="1"/>
              <a:t>df.assign</a:t>
            </a:r>
            <a:r>
              <a:rPr lang="en-US" dirty="0"/>
              <a:t>(</a:t>
            </a:r>
            <a:r>
              <a:rPr lang="en-US" dirty="0" err="1"/>
              <a:t>gdp_pc</a:t>
            </a:r>
            <a:r>
              <a:rPr lang="en-US" dirty="0"/>
              <a:t> = </a:t>
            </a:r>
            <a:r>
              <a:rPr lang="en-US" dirty="0" err="1"/>
              <a:t>df</a:t>
            </a:r>
            <a:r>
              <a:rPr lang="en-US" dirty="0"/>
              <a:t>["</a:t>
            </a:r>
            <a:r>
              <a:rPr lang="en-US" dirty="0" err="1"/>
              <a:t>gdp</a:t>
            </a:r>
            <a:r>
              <a:rPr lang="en-US" dirty="0"/>
              <a:t>"] / </a:t>
            </a:r>
            <a:r>
              <a:rPr lang="en-US" dirty="0" err="1"/>
              <a:t>df</a:t>
            </a:r>
            <a:r>
              <a:rPr lang="en-US" dirty="0"/>
              <a:t>["pop"],</a:t>
            </a:r>
          </a:p>
          <a:p>
            <a:r>
              <a:rPr lang="en-US" dirty="0"/>
              <a:t>          decade = (</a:t>
            </a:r>
            <a:r>
              <a:rPr lang="en-US" dirty="0" err="1"/>
              <a:t>df</a:t>
            </a:r>
            <a:r>
              <a:rPr lang="en-US" dirty="0"/>
              <a:t>["year"] // 10) * 10)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455160-4E01-EB9F-A1A1-2B82009686B5}"/>
              </a:ext>
            </a:extLst>
          </p:cNvPr>
          <p:cNvSpPr txBox="1"/>
          <p:nvPr/>
        </p:nvSpPr>
        <p:spPr>
          <a:xfrm>
            <a:off x="6096000" y="3026227"/>
            <a:ext cx="4826382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Left Join:</a:t>
            </a:r>
          </a:p>
          <a:p>
            <a:r>
              <a:rPr lang="en-US" dirty="0"/>
              <a:t>R:</a:t>
            </a:r>
            <a:br>
              <a:rPr lang="en-US" dirty="0"/>
            </a:br>
            <a:r>
              <a:rPr lang="en-US" dirty="0" err="1"/>
              <a:t>left_join</a:t>
            </a:r>
            <a:r>
              <a:rPr lang="en-US" dirty="0"/>
              <a:t>(</a:t>
            </a:r>
            <a:r>
              <a:rPr lang="en-US" dirty="0" err="1"/>
              <a:t>df_left</a:t>
            </a:r>
            <a:r>
              <a:rPr lang="en-US" dirty="0"/>
              <a:t>, </a:t>
            </a:r>
            <a:r>
              <a:rPr lang="en-US" dirty="0" err="1"/>
              <a:t>df_right</a:t>
            </a:r>
            <a:r>
              <a:rPr lang="en-US" dirty="0"/>
              <a:t>, by = "id")</a:t>
            </a:r>
          </a:p>
          <a:p>
            <a:endParaRPr lang="en-US" dirty="0"/>
          </a:p>
          <a:p>
            <a:r>
              <a:rPr lang="en-US" dirty="0"/>
              <a:t>Python: </a:t>
            </a:r>
          </a:p>
          <a:p>
            <a:r>
              <a:rPr lang="en-US" dirty="0" err="1"/>
              <a:t>df_left.merge</a:t>
            </a:r>
            <a:r>
              <a:rPr lang="en-US" dirty="0"/>
              <a:t>(</a:t>
            </a:r>
            <a:r>
              <a:rPr lang="en-US" dirty="0" err="1"/>
              <a:t>df_right</a:t>
            </a:r>
            <a:r>
              <a:rPr lang="en-US" dirty="0"/>
              <a:t>, on="id", how="left")</a:t>
            </a:r>
          </a:p>
        </p:txBody>
      </p:sp>
    </p:spTree>
    <p:extLst>
      <p:ext uri="{BB962C8B-B14F-4D97-AF65-F5344CB8AC3E}">
        <p14:creationId xmlns:p14="http://schemas.microsoft.com/office/powerpoint/2010/main" val="800223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59E185A-8FC1-5010-1795-2810EFD3E3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877260"/>
              </p:ext>
            </p:extLst>
          </p:nvPr>
        </p:nvGraphicFramePr>
        <p:xfrm>
          <a:off x="1530956" y="905933"/>
          <a:ext cx="9162092" cy="5039734"/>
        </p:xfrm>
        <a:graphic>
          <a:graphicData uri="http://schemas.openxmlformats.org/drawingml/2006/table">
            <a:tbl>
              <a:tblPr/>
              <a:tblGrid>
                <a:gridCol w="2987403">
                  <a:extLst>
                    <a:ext uri="{9D8B030D-6E8A-4147-A177-3AD203B41FA5}">
                      <a16:colId xmlns:a16="http://schemas.microsoft.com/office/drawing/2014/main" val="1646221077"/>
                    </a:ext>
                  </a:extLst>
                </a:gridCol>
                <a:gridCol w="3138027">
                  <a:extLst>
                    <a:ext uri="{9D8B030D-6E8A-4147-A177-3AD203B41FA5}">
                      <a16:colId xmlns:a16="http://schemas.microsoft.com/office/drawing/2014/main" val="408778770"/>
                    </a:ext>
                  </a:extLst>
                </a:gridCol>
                <a:gridCol w="3036662">
                  <a:extLst>
                    <a:ext uri="{9D8B030D-6E8A-4147-A177-3AD203B41FA5}">
                      <a16:colId xmlns:a16="http://schemas.microsoft.com/office/drawing/2014/main" val="1674015188"/>
                    </a:ext>
                  </a:extLst>
                </a:gridCol>
              </a:tblGrid>
              <a:tr h="377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>
                          <a:latin typeface="+mn-lt"/>
                        </a:rPr>
                        <a:t>Concept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latin typeface="+mn-lt"/>
                        </a:rPr>
                        <a:t>R / tidyverse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>
                          <a:latin typeface="+mn-lt"/>
                        </a:rPr>
                        <a:t>Python / pandas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001119"/>
                  </a:ext>
                </a:extLst>
              </a:tr>
              <a:tr h="377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>
                          <a:latin typeface="+mn-lt"/>
                        </a:rPr>
                        <a:t>What do we use it in?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 err="1">
                          <a:latin typeface="+mn-lt"/>
                        </a:rPr>
                        <a:t>RMarkdown</a:t>
                      </a:r>
                      <a:r>
                        <a:rPr lang="en-US" sz="1700" b="0" dirty="0">
                          <a:latin typeface="+mn-lt"/>
                        </a:rPr>
                        <a:t> / Quarto / RStudio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 err="1">
                          <a:latin typeface="+mn-lt"/>
                        </a:rPr>
                        <a:t>Colab</a:t>
                      </a:r>
                      <a:r>
                        <a:rPr lang="en-US" sz="1700" b="0" dirty="0">
                          <a:latin typeface="+mn-lt"/>
                        </a:rPr>
                        <a:t> / </a:t>
                      </a:r>
                      <a:r>
                        <a:rPr lang="en-US" sz="1700" b="0" dirty="0" err="1">
                          <a:latin typeface="+mn-lt"/>
                        </a:rPr>
                        <a:t>Jupyter</a:t>
                      </a:r>
                      <a:endParaRPr lang="en-US" sz="1700" b="0" dirty="0">
                        <a:latin typeface="+mn-lt"/>
                      </a:endParaRP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765508"/>
                  </a:ext>
                </a:extLst>
              </a:tr>
              <a:tr h="377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>
                          <a:latin typeface="+mn-lt"/>
                        </a:rPr>
                        <a:t>Assign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>
                          <a:latin typeface="+mn-lt"/>
                        </a:rPr>
                        <a:t>x &lt;- 5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latin typeface="+mn-lt"/>
                        </a:rPr>
                        <a:t>x = 5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196044"/>
                  </a:ext>
                </a:extLst>
              </a:tr>
              <a:tr h="377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>
                          <a:latin typeface="+mn-lt"/>
                        </a:rPr>
                        <a:t>Index base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>
                          <a:latin typeface="+mn-lt"/>
                        </a:rPr>
                        <a:t>1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>
                          <a:latin typeface="+mn-lt"/>
                        </a:rPr>
                        <a:t>0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401019"/>
                  </a:ext>
                </a:extLst>
              </a:tr>
              <a:tr h="377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>
                          <a:latin typeface="+mn-lt"/>
                        </a:rPr>
                        <a:t>Equality / logic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>
                          <a:latin typeface="+mn-lt"/>
                        </a:rPr>
                        <a:t>==, &amp;, `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latin typeface="+mn-lt"/>
                        </a:rPr>
                        <a:t>, !`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523038"/>
                  </a:ext>
                </a:extLst>
              </a:tr>
              <a:tr h="377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>
                          <a:latin typeface="+mn-lt"/>
                        </a:rPr>
                        <a:t>Missing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>
                          <a:latin typeface="+mn-lt"/>
                        </a:rPr>
                        <a:t>NA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latin typeface="+mn-lt"/>
                        </a:rPr>
                        <a:t>None, NaN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5765525"/>
                  </a:ext>
                </a:extLst>
              </a:tr>
              <a:tr h="377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>
                          <a:latin typeface="+mn-lt"/>
                        </a:rPr>
                        <a:t>List/</a:t>
                      </a:r>
                      <a:r>
                        <a:rPr lang="en-US" sz="1700" b="0" dirty="0" err="1">
                          <a:latin typeface="+mn-lt"/>
                        </a:rPr>
                        <a:t>dict</a:t>
                      </a:r>
                      <a:endParaRPr lang="en-US" sz="1700" b="0" dirty="0">
                        <a:latin typeface="+mn-lt"/>
                      </a:endParaRP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>
                          <a:latin typeface="+mn-lt"/>
                        </a:rPr>
                        <a:t>list(), list(a=1)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latin typeface="+mn-lt"/>
                        </a:rPr>
                        <a:t>[ ... ], { "a": 1 }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556589"/>
                  </a:ext>
                </a:extLst>
              </a:tr>
              <a:tr h="377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>
                          <a:latin typeface="+mn-lt"/>
                        </a:rPr>
                        <a:t>Data frame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latin typeface="+mn-lt"/>
                        </a:rPr>
                        <a:t>data.frame()/tibble()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latin typeface="+mn-lt"/>
                        </a:rPr>
                        <a:t>pd.DataFrame(...)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076976"/>
                  </a:ext>
                </a:extLst>
              </a:tr>
              <a:tr h="631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>
                          <a:latin typeface="+mn-lt"/>
                        </a:rPr>
                        <a:t>Select/filter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latin typeface="+mn-lt"/>
                        </a:rPr>
                        <a:t>select(col), filter(x &gt; 0)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700" b="0">
                          <a:latin typeface="+mn-lt"/>
                        </a:rPr>
                        <a:t>df[["col"]], df.query("x &gt; 0")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222118"/>
                  </a:ext>
                </a:extLst>
              </a:tr>
              <a:tr h="631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>
                          <a:latin typeface="+mn-lt"/>
                        </a:rPr>
                        <a:t>Mutate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>
                          <a:latin typeface="+mn-lt"/>
                        </a:rPr>
                        <a:t>mutate(z = </a:t>
                      </a:r>
                      <a:r>
                        <a:rPr lang="en-US" sz="1700" b="0" dirty="0" err="1">
                          <a:latin typeface="+mn-lt"/>
                        </a:rPr>
                        <a:t>x+y</a:t>
                      </a:r>
                      <a:r>
                        <a:rPr lang="en-US" sz="1700" b="0" dirty="0">
                          <a:latin typeface="+mn-lt"/>
                        </a:rPr>
                        <a:t>)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latin typeface="+mn-lt"/>
                        </a:rPr>
                        <a:t>df.assign(z = df.x + df.y)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302763"/>
                  </a:ext>
                </a:extLst>
              </a:tr>
              <a:tr h="377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>
                          <a:latin typeface="+mn-lt"/>
                        </a:rPr>
                        <a:t>Group/summarize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latin typeface="+mn-lt"/>
                        </a:rPr>
                        <a:t>`group_by()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>
                          <a:latin typeface="+mn-lt"/>
                        </a:rPr>
                        <a:t>&gt; summarize()`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8994305"/>
                  </a:ext>
                </a:extLst>
              </a:tr>
              <a:tr h="377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>
                          <a:latin typeface="+mn-lt"/>
                        </a:rPr>
                        <a:t>Pipe/chain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>
                          <a:latin typeface="+mn-lt"/>
                        </a:rPr>
                        <a:t>`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0" dirty="0">
                          <a:latin typeface="+mn-lt"/>
                        </a:rPr>
                        <a:t>&gt;/%&gt;%`</a:t>
                      </a:r>
                    </a:p>
                  </a:txBody>
                  <a:tcPr marL="82818" marR="82818" marT="41409" marB="414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2789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529300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73</TotalTime>
  <Words>641</Words>
  <Application>Microsoft Office PowerPoint</Application>
  <PresentationFormat>Widescreen</PresentationFormat>
  <Paragraphs>92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Retrospect</vt:lpstr>
      <vt:lpstr>Introduction to Python &amp;  Text-as-Data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Samirah Jaigirdar</dc:creator>
  <cp:lastModifiedBy>Samirah Jaigirdar</cp:lastModifiedBy>
  <cp:revision>5</cp:revision>
  <dcterms:created xsi:type="dcterms:W3CDTF">2025-10-30T19:36:50Z</dcterms:created>
  <dcterms:modified xsi:type="dcterms:W3CDTF">2025-10-30T20:50:49Z</dcterms:modified>
</cp:coreProperties>
</file>